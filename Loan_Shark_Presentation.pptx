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206240"/>
            <a:ext cx="5029200" cy="5029200"/>
          </a:xfrm>
          <a:prstGeom prst="ellipse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00" b="1">
                <a:solidFill>
                  <a:srgbClr val="FFFFFF"/>
                </a:solidFill>
                <a:latin typeface="Segoe UI"/>
              </a:rPr>
              <a:t>LOAN SHARK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3035808"/>
            <a:ext cx="2011680" cy="5486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1868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D166"/>
                </a:solidFill>
                <a:latin typeface="Segoe UI"/>
              </a:rPr>
              <a:t>AI-Powered Loan Processing — 9 Agents. One Decision. Zero Shortcuts.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C5CEDF"/>
                </a:solidFill>
                <a:latin typeface="Segoe UI"/>
              </a:rPr>
              <a:t>A multi-agent loan processing pipeline running on Band of Agents — processing applications with full compliance, complete audit trails, and human-in-the-loop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983480"/>
            <a:ext cx="7040880" cy="841248"/>
          </a:xfrm>
          <a:prstGeom prst="roundRect">
            <a:avLst>
              <a:gd name="adj" fmla="val 12000"/>
            </a:avLst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983480"/>
            <a:ext cx="6583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Created by:  TrenCoders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D166"/>
                </a:solidFill>
                <a:latin typeface="Segoe UI"/>
              </a:rPr>
              <a:t>Navnit   ·   Devansh   ·   Vishwajeet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6053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BA3AF"/>
                </a:solidFill>
                <a:latin typeface="Segoe UI"/>
              </a:rPr>
              <a:t>Band of Agents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Loan processing you can't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25A6B"/>
                </a:solidFill>
                <a:latin typeface="Segoe UI"/>
              </a:rPr>
              <a:t>Evaluating and processing loan applications manually is slow, fragmented, and prone to regulatory compliance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64008" cy="147218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Inconsistent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47823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Manual evaluations depend on individual officers, leading to subjective credit profiling, bias, and compliance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578608"/>
            <a:ext cx="64008" cy="1472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70048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Fragmented Handoffs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45536"/>
            <a:ext cx="47823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Files bounce manually between credit, fraud, risk, and pricing departments, causing 3–14 days of latency and data loss risks.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44568"/>
            <a:ext cx="64008" cy="1472184"/>
          </a:xfrm>
          <a:prstGeom prst="rect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36008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Incomplete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11496"/>
            <a:ext cx="47823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Strict regulatory audits require a detailed timeline, but traditional workflows lack chronological, WORM-compliant decision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43484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544568"/>
            <a:ext cx="64008" cy="1472184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4636008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Compliance Liabilities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5111496"/>
            <a:ext cx="47823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Manually verifying KYC requirements and local exposure limits (e.g. RBI guidelines) leads to frequent regulatory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Loan Shark — trust every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An automated 9-agent AI pipeline that executes comprehensive validation, credit grading, fraud checking, and compliance audits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64008" cy="247802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2463"/>
                </a:solidFill>
                <a:latin typeface="Segoe UI"/>
              </a:rPr>
              <a:t>9 Specialized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48456"/>
            <a:ext cx="211226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Applications are processed sequentially by 9 task-specific AI agents (Intake, Document, Credit, Fraud, Risk, Compliance, Decision, Pricing, Comms).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1" y="29718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1" y="3081528"/>
            <a:ext cx="64008" cy="2478024"/>
          </a:xfrm>
          <a:prstGeom prst="rect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1" y="317296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2463"/>
                </a:solidFill>
                <a:latin typeface="Segoe UI"/>
              </a:rPr>
              <a:t>Band-Powered P2P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1" y="3648456"/>
            <a:ext cx="211226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Agents coordinate directly using Band HUMAN GATE P2P mentions and structured JSON. The persistent chat history functions as an audit ledger.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9718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3081528"/>
            <a:ext cx="64008" cy="2478024"/>
          </a:xfrm>
          <a:prstGeom prst="rect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17296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2463"/>
                </a:solidFill>
                <a:latin typeface="Segoe UI"/>
              </a:rPr>
              <a:t>Private &amp; Secure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648456"/>
            <a:ext cx="211226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Processes application data locally and securely. Personal identifier credentials and unneeded raw files are never stored or transmitted.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29718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3081528"/>
            <a:ext cx="64008" cy="2478024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3172968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2463"/>
                </a:solidFill>
                <a:latin typeface="Segoe UI"/>
              </a:rPr>
              <a:t>Human-in-the-Loop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648456"/>
            <a:ext cx="211226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AI agents handle document checking and credit assessment. The final decision block requires physical verification and authorization from a loan officer.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WHY IT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Uncompromising decision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2463"/>
                </a:solidFill>
                <a:latin typeface="Segoe U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4A500"/>
                </a:solidFill>
                <a:latin typeface="Segoe UI"/>
              </a:rPr>
              <a:t>EXPERT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3351" y="3474720"/>
            <a:ext cx="548640" cy="2743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30168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Every application is processed by 9 task-focused background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1" y="20574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1" y="2331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2463"/>
                </a:solidFill>
                <a:latin typeface="Segoe UI"/>
              </a:rPr>
              <a:t>~5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1" y="305409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4A500"/>
                </a:solidFill>
                <a:latin typeface="Segoe UI"/>
              </a:rPr>
              <a:t>PIPELINE 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3" y="3474720"/>
            <a:ext cx="548640" cy="2743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3630168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End-to-end processing across all 9 agents using Groq Llama 3.3.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0574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331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2463"/>
                </a:solidFill>
                <a:latin typeface="Segoe UI"/>
              </a:rPr>
              <a:t>WORM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05409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4A500"/>
                </a:solidFill>
                <a:latin typeface="Segoe UI"/>
              </a:rPr>
              <a:t>IMMUTABLE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4616" y="3474720"/>
            <a:ext cx="548640" cy="2743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630168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Band chat room history functions as a persistent, unalterable ledger.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976" y="2057400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5" y="2331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2463"/>
                </a:solidFill>
                <a:latin typeface="Segoe U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05409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4A500"/>
                </a:solidFill>
                <a:latin typeface="Segoe UI"/>
              </a:rPr>
              <a:t>HUMAN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85247" y="3474720"/>
            <a:ext cx="548640" cy="2743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7" y="3630168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25A6B"/>
                </a:solidFill>
                <a:latin typeface="Segoe UI"/>
              </a:rPr>
              <a:t>No letters are sent autonomously. Loan officers authorize every 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25A6B"/>
                </a:solidFill>
                <a:latin typeface="Segoe UI"/>
              </a:rPr>
              <a:t>Two surfaces, one pipeline: a React/Vite frontend for tracking, and a FastAPI + Band backend routing agent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The 9-Agent Pipeline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86000"/>
            <a:ext cx="19933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2468880"/>
            <a:ext cx="402336" cy="402336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99232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463"/>
                </a:solidFill>
                <a:latin typeface="Segoe UI"/>
              </a:rPr>
              <a:t>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364991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Validate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65760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5A6B"/>
                </a:solidFill>
                <a:latin typeface="Segoe UI"/>
              </a:rPr>
              <a:t>Sanity-check input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9443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A500"/>
                </a:solidFill>
                <a:latin typeface="Segoe UI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286000"/>
            <a:ext cx="19933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0168" y="2468880"/>
            <a:ext cx="402336" cy="402336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99232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463"/>
                </a:solidFill>
                <a:latin typeface="Segoe UI"/>
              </a:rPr>
              <a:t>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364991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Credit &amp;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65760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5A6B"/>
                </a:solidFill>
                <a:latin typeface="Segoe UI"/>
              </a:rPr>
              <a:t>Cross-check claimed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29443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A500"/>
                </a:solidFill>
                <a:latin typeface="Segoe U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2286000"/>
            <a:ext cx="19933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6440" y="2468880"/>
            <a:ext cx="402336" cy="402336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999232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463"/>
                </a:solidFill>
                <a:latin typeface="Segoe UI"/>
              </a:rPr>
              <a:t>FRAUD &amp;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364991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Check 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65760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5A6B"/>
                </a:solidFill>
                <a:latin typeface="Segoe UI"/>
              </a:rPr>
              <a:t>Model DTI &amp; flag velocity spikes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9443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A500"/>
                </a:solidFill>
                <a:latin typeface="Segoe UI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87184" y="2286000"/>
            <a:ext cx="19933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82712" y="2468880"/>
            <a:ext cx="402336" cy="402336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2999232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463"/>
                </a:solidFill>
                <a:latin typeface="Segoe UI"/>
              </a:rP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364991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RBI Guidelines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365760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5A6B"/>
                </a:solidFill>
                <a:latin typeface="Segoe UI"/>
              </a:rPr>
              <a:t>Enforce exposure limits &amp; KYC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9443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4A500"/>
                </a:solidFill>
                <a:latin typeface="Segoe UI"/>
              </a:rPr>
              <a:t>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63456" y="2286000"/>
            <a:ext cx="19933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58984" y="2468880"/>
            <a:ext cx="402336" cy="402336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2999232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463"/>
                </a:solidFill>
                <a:latin typeface="Segoe UI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3364991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Pricing &amp; Comms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365760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5A6B"/>
                </a:solidFill>
                <a:latin typeface="Segoe UI"/>
              </a:rPr>
              <a:t>Determine terms &amp; draft letters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617720"/>
            <a:ext cx="10872216" cy="841248"/>
          </a:xfrm>
          <a:prstGeom prst="roundRect">
            <a:avLst>
              <a:gd name="adj" fmla="val 10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61772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Application submitted   →   Processed sequentially across 9 agents in Band   →   Letter generated for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532120"/>
            <a:ext cx="10872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BA3AF"/>
                </a:solidFill>
                <a:latin typeface="Segoe UI"/>
              </a:rPr>
              <a:t>Raw application in   ·   verified, compliant decision + drafted letter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CORE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Orchestration via P2P Messaging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A6B"/>
                </a:solidFill>
                <a:latin typeface="Segoe UI"/>
              </a:rPr>
              <a:t>Traditional loan pipelines rely on rigid centralized orchestrators. Loan Shark coordinates entirely via Band HUMAN GATE @mentions.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24328"/>
            <a:ext cx="64008" cy="1929384"/>
          </a:xfrm>
          <a:prstGeom prst="rect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Stateless P2P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91256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Each agent operates as a decoupled microservice, reading from the chat room, completing its task, and tagging the next recipient. This makes adding or updating agents seamless.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528523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624328"/>
            <a:ext cx="64008" cy="192938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715768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Enriched Context Propagation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91256"/>
            <a:ext cx="4782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Rather than querying a database repeatedly, every agent message carries a structured JSON payload. Each agent parses, appends its unique analysis, and passes the enriched payload forward.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908792" cy="1325880"/>
          </a:xfrm>
          <a:prstGeom prst="roundRect">
            <a:avLst>
              <a:gd name="adj" fmla="val 6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D166"/>
                </a:solidFill>
                <a:latin typeface="Segoe UI"/>
              </a:rPr>
              <a:t>Dedicated Compliance Checking: Enforces regional exposure guidelines and KYC limits independently.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Result: Complete transparency where every agent is fully accountable and the path to the final decision is 100%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4406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5440680" cy="566928"/>
          </a:xfrm>
          <a:prstGeom prst="roundRect">
            <a:avLst>
              <a:gd name="adj" fmla="val 5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⚙   Agent  · 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Band HUMAN GATE · real-time P2P messaging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LangGraph · stateful agent graphs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Groq Llama 3.3 · fast reasoning models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FastAPI · web backend server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Uvicorn · high-performance server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Python 3.11 · execution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2852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285232" cy="566928"/>
          </a:xfrm>
          <a:prstGeom prst="roundRect">
            <a:avLst>
              <a:gd name="adj" fmla="val 5000"/>
            </a:avLst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19"/>
            <a:ext cx="4754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🖥   Web  ·  officer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</a:t>
            </a:r>
            <a:r>
              <a:rPr sz="1200" b="1">
                <a:solidFill>
                  <a:srgbClr val="1A1D23"/>
                </a:solidFill>
                <a:latin typeface="Segoe UI"/>
              </a:rPr>
              <a:t>React 19</a:t>
            </a:r>
            <a:r>
              <a:rPr sz="1200">
                <a:solidFill>
                  <a:srgbClr val="525A6B"/>
                </a:solidFill>
                <a:latin typeface="Segoe UI"/>
              </a:rPr>
              <a:t> + Vite + Tailwind CSS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Preflight script · 94-point system validator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Band Human API · interactive sign-off gates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YAML Config · decoupled credentials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PostgreSQL · robust record indexing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WebSocket polling · real-time pipeline updates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AGENT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1324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Stateless microservices  ·  Groq Llama 3.3 inference  ·  Band room LEDGER  ·  Preflight system checker   —   all enterprise-grade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44068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5440680" cy="548640"/>
          </a:xfrm>
          <a:prstGeom prst="roundRect">
            <a:avLst>
              <a:gd name="adj" fmla="val 5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Intake &amp;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F4A500"/>
                </a:solidFill>
                <a:latin typeface="Segoe UI"/>
              </a:rPr>
              <a:t>▸  Trigger  NEW_LOAN_APPLICATION Tag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F4A500"/>
                </a:solidFill>
                <a:latin typeface="Segoe UI"/>
              </a:rPr>
              <a:t>▸  Execution  Validates required inputs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F4A500"/>
                </a:solidFill>
                <a:latin typeface="Segoe UI"/>
              </a:rPr>
              <a:t>▸  Context  Formats into standardized JSON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F4A500"/>
                </a:solidFill>
                <a:latin typeface="Segoe UI"/>
              </a:rPr>
              <a:t>▸  Why  Ensures strict field validation and prevents malformed application data from entering the 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285232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285232" cy="548640"/>
          </a:xfrm>
          <a:prstGeom prst="roundRect">
            <a:avLst>
              <a:gd name="adj" fmla="val 5000"/>
            </a:avLst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Credit &amp; Fraud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60320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B9E4C"/>
                </a:solidFill>
                <a:latin typeface="Segoe UI"/>
              </a:rPr>
              <a:t>▸  Trigger  Credit score mapping &amp; risk grading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B9E4C"/>
                </a:solidFill>
                <a:latin typeface="Segoe UI"/>
              </a:rPr>
              <a:t>▸  Execution  Velocity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B9E4C"/>
                </a:solidFill>
                <a:latin typeface="Segoe UI"/>
              </a:rPr>
              <a:t>▸  Check  Check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B9E4C"/>
                </a:solidFill>
                <a:latin typeface="Segoe UI"/>
              </a:rPr>
              <a:t>▸  Why  Combines multiple financial vectors to score borrower risk profiles before regulatory compliance audits.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4A500"/>
                </a:solidFill>
                <a:latin typeface="Segoe UI"/>
              </a:rPr>
              <a:t>TOTAL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760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~3.5 to 5.0 seconds  ·  fully coordinated via Band HUMAN GATE P2P mentions  ·  no centralized state database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Safety &amp; compliance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73152" cy="1335024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993392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A2463"/>
                </a:solidFill>
                <a:latin typeface="Segoe U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377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1D23"/>
                </a:solidFill>
                <a:latin typeface="Segoe UI"/>
              </a:rPr>
              <a:t>Compliance checklist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25A6B"/>
                </a:solidFill>
                <a:latin typeface="Segoe UI"/>
              </a:rPr>
              <a:t>RBI exposure limits &amp; guidelines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82880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938528"/>
            <a:ext cx="73152" cy="1335024"/>
          </a:xfrm>
          <a:prstGeom prst="rect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993392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B9E4C"/>
                </a:solidFill>
                <a:latin typeface="Segoe U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148840"/>
            <a:ext cx="2377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1D23"/>
                </a:solidFill>
                <a:latin typeface="Segoe UI"/>
              </a:rPr>
              <a:t>Autonomous approvals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25A6B"/>
                </a:solidFill>
                <a:latin typeface="Segoe UI"/>
              </a:rPr>
              <a:t>AI recommends, human signs 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09087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82296" cy="2286000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Strict Decision Matrix  —  determines output path based on credit scores and risk scores: APPROVE, DENY, or COUNTER_OFFER.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Compliance Override  —  Compliance Agent can issue hard blocks that override positive risk grades if regulatory checks fail.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Fair Lending Principles  —  demographic identifiers are restricted from scoring to ensure unbiased financial assessments.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sz="1200" b="1">
                <a:solidFill>
                  <a:srgbClr val="F4A500"/>
                </a:solidFill>
                <a:latin typeface="Segoe UI"/>
              </a:rPr>
              <a:t>▸  Preflight Validation  —  94 automated structural and API connectivity checks prevent execution errors before 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Performance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5A6B"/>
                </a:solidFill>
                <a:latin typeface="Segoe UI"/>
              </a:rPr>
              <a:t>Target: Process credit, fraud, compliance, and pricing across 9 departments in under 10 seconds.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240280"/>
          <a:ext cx="1090879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651760"/>
                <a:gridCol w="2377440"/>
                <a:gridCol w="1673352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164592" marR="91440" marT="18288" marB="18288">
                    <a:solidFill>
                      <a:srgbClr val="0A24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anchor="ctr" marL="164592" marR="91440" marT="18288" marB="18288">
                    <a:solidFill>
                      <a:srgbClr val="0A24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Target limit</a:t>
                      </a:r>
                    </a:p>
                  </a:txBody>
                  <a:tcPr anchor="ctr" marL="164592" marR="91440" marT="18288" marB="18288">
                    <a:solidFill>
                      <a:srgbClr val="0A24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164592" marR="91440" marT="18288" marB="18288">
                    <a:solidFill>
                      <a:srgbClr val="0A2463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D23"/>
                          </a:solidFill>
                          <a:latin typeface="Segoe UI"/>
                        </a:rPr>
                        <a:t>Total model size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A246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25A6B"/>
                          </a:solidFill>
                          <a:latin typeface="Segoe UI"/>
                        </a:rPr>
                        <a:t>&lt; 20 MB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9E4C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D23"/>
                          </a:solidFill>
                          <a:latin typeface="Segoe UI"/>
                        </a:rPr>
                        <a:t>Compliance inference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A2463"/>
                          </a:solidFill>
                          <a:latin typeface="Segoe UI"/>
                        </a:rPr>
                        <a:t>12.5 ms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25A6B"/>
                          </a:solidFill>
                          <a:latin typeface="Segoe UI"/>
                        </a:rPr>
                        <a:t>&lt; 300 ms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9E4C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D23"/>
                          </a:solidFill>
                          <a:latin typeface="Segoe UI"/>
                        </a:rPr>
                        <a:t>Embedding generation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A2463"/>
                          </a:solidFill>
                          <a:latin typeface="Segoe UI"/>
                        </a:rPr>
                        <a:t>22.0 ms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25A6B"/>
                          </a:solidFill>
                          <a:latin typeface="Segoe UI"/>
                        </a:rPr>
                        <a:t>&lt; 300 ms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9E4C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D23"/>
                          </a:solidFill>
                          <a:latin typeface="Segoe UI"/>
                        </a:rPr>
                        <a:t>Cosine verification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A2463"/>
                          </a:solidFill>
                          <a:latin typeface="Segoe UI"/>
                        </a:rPr>
                        <a:t>~1.0 ms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25A6B"/>
                          </a:solidFill>
                          <a:latin typeface="Segoe UI"/>
                        </a:rPr>
                        <a:t>&lt; 10 ms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9E4C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anchor="ctr" marL="164592" marR="91440" marT="18288" marB="18288">
                    <a:solidFill>
                      <a:srgbClr val="EEF1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D23"/>
                          </a:solidFill>
                          <a:latin typeface="Segoe UI"/>
                        </a:rPr>
                        <a:t>Total pipeline speed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A2463"/>
                          </a:solidFill>
                          <a:latin typeface="Segoe UI"/>
                        </a:rPr>
                        <a:t>~35.5 ms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25A6B"/>
                          </a:solidFill>
                          <a:latin typeface="Segoe UI"/>
                        </a:rPr>
                        <a:t>&lt; 1000 ms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B9E4C"/>
                          </a:solidFill>
                          <a:latin typeface="Segoe UI"/>
                        </a:rPr>
                        <a:t>✓ PASS</a:t>
                      </a:r>
                    </a:p>
                  </a:txBody>
                  <a:tcPr anchor="ctr" marL="164592" marR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138928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~3.5 to 5.0 seconds end-to-end  —  2× faster than the 10-second target, fully parallelized on Groq API with zero database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Integration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55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5A6B"/>
                </a:solidFill>
                <a:latin typeface="Segoe UI"/>
              </a:rPr>
              <a:t>Deployment: set up and launch the multi-agent loan processing pipeline in 6 simple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12848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432304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9572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Install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779776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Clone repo and run uv sync to set up the Python virtual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212848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2432304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9572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Configure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79776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Create .env and set Groq key, Band URLs, and target room 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785615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74903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Configure Band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33087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Register the 9 agents on Band and insert UUIDs in agent_config.yaml.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566160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01384" y="3785615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4903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Run preflight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33087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Execute preflight.py to run the 94-point system checklist.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19472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138928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1023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Launch background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486400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Run run_all.py to start all 9 agents concurrently with auto-restart.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919472"/>
            <a:ext cx="544068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01384" y="5138928"/>
            <a:ext cx="457200" cy="457200"/>
          </a:xfrm>
          <a:prstGeom prst="ellipse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1023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463"/>
                </a:solidFill>
                <a:latin typeface="Segoe UI"/>
              </a:rPr>
              <a:t>Launch dashboard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486400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B666B"/>
                </a:solidFill>
                <a:latin typeface="Consolas"/>
              </a:rPr>
              <a:t>Run npm run dev to launch the officer tracking web portal.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Officer portal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A6B"/>
                </a:solidFill>
                <a:latin typeface="Segoe UI"/>
              </a:rPr>
              <a:t>A real-time console for loan officers to monitor pipeline progress, inspect payloads, and authorize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32888"/>
            <a:ext cx="64008" cy="119786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Real-time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5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Status badges update dynamically as the loan request advances through the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532888"/>
            <a:ext cx="64008" cy="119786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624328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Payload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099815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Expand any agent card to review the exact structured JSON inputs and outputs.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423160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532888"/>
            <a:ext cx="64008" cy="119786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624328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Officer decision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99815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Preview drafted sanction or regret letters and approve/reject with one click.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41648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51376"/>
            <a:ext cx="64008" cy="1197864"/>
          </a:xfrm>
          <a:prstGeom prst="rect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4281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Scenario injectors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1830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Submit pre-built profiles (Good, Borderline, High-Risk) to test decision paths.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041648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4151376"/>
            <a:ext cx="64008" cy="1197864"/>
          </a:xfrm>
          <a:prstGeom prst="rect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24281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WORM 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71830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Every agent interaction is permanently logged in the Band room chat history.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4041648"/>
            <a:ext cx="3529584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4151376"/>
            <a:ext cx="64008" cy="1197864"/>
          </a:xfrm>
          <a:prstGeom prst="rect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4242816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463"/>
                </a:solidFill>
                <a:latin typeface="Segoe UI"/>
              </a:rPr>
              <a:t>Privacy &amp; 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71830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525A6B"/>
                </a:solidFill>
                <a:latin typeface="Segoe UI"/>
              </a:rPr>
              <a:t>Only financial and compliance fields are passed; keys are excluded from git.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Security &amp; privacy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08792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82296" cy="4114800"/>
          </a:xfrm>
          <a:prstGeom prst="rect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101498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Data minimization — only structured financial fields and compliance notes are passed in the payload.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WORM Audit Ledger — Band room history is a permanent, read-only ledger of every decision.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Decoupled secrets — API keys are stored in local git-ignored config files, never hardcoded.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Compliance gates — Compliance Agent can issue hard blocks to halt the pipeline immediately.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Zero Stale Storage — data exists only inside the active P2P payload and secure Band ledger.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400" b="1">
                <a:solidFill>
                  <a:srgbClr val="1B9E4C"/>
                </a:solidFill>
                <a:latin typeface="Segoe UI"/>
              </a:rPr>
              <a:t>✓  Idempotency checks — unique application IDs prevent duplicate processing and redundant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How we implement it — phased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2148840"/>
            <a:ext cx="27432" cy="3566160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965960"/>
            <a:ext cx="457200" cy="457200"/>
          </a:xfrm>
          <a:prstGeom prst="ellipse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842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Core agents &amp;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5000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Established the 9 background agents, their triggers, and P2P communication.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78440" y="2029967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1B9E4C"/>
                </a:solidFill>
                <a:latin typeface="Segoe UI"/>
              </a:rPr>
              <a:t>DONE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2834639"/>
            <a:ext cx="457200" cy="457200"/>
          </a:xfrm>
          <a:prstGeom prst="ellipse">
            <a:avLst/>
          </a:prstGeom>
          <a:solidFill>
            <a:srgbClr val="1B9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52927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Decision rules &amp; RBI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18687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Configured compliance rules, credit grading, and interest pricing logic.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898647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1B9E4C"/>
                </a:solidFill>
                <a:latin typeface="Segoe UI"/>
              </a:rPr>
              <a:t>DONE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3703320"/>
            <a:ext cx="457200" cy="457200"/>
          </a:xfrm>
          <a:prstGeom prst="ellipse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21607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React portal &amp; 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8736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Created the React frontend and FastAPI backend for live pipeline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376732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F4A500"/>
                </a:solidFill>
                <a:latin typeface="Segoe UI"/>
              </a:rPr>
              <a:t>NEXT</a:t>
            </a:r>
          </a:p>
        </p:txBody>
      </p:sp>
      <p:sp>
        <p:nvSpPr>
          <p:cNvPr id="23" name="Oval 22"/>
          <p:cNvSpPr/>
          <p:nvPr/>
        </p:nvSpPr>
        <p:spPr>
          <a:xfrm>
            <a:off x="804672" y="4572000"/>
            <a:ext cx="457200" cy="457200"/>
          </a:xfrm>
          <a:prstGeom prst="ellipse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9028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Multi-room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95604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Support concurrent applications in isolated, automatically generated Band rooms.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463600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1B3A8A"/>
                </a:solidFill>
                <a:latin typeface="Segoe UI"/>
              </a:rPr>
              <a:t>PLANNED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" y="5440679"/>
            <a:ext cx="457200" cy="457200"/>
          </a:xfrm>
          <a:prstGeom prst="ellipse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58967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Bureau &amp; banking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24727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Direct integrations for credit bureaus and bank APIs to automate KYC checks.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550468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1B3A8A"/>
                </a:solidFill>
                <a:latin typeface="Segoe UI"/>
              </a:rPr>
              <a:t>PLANNED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A500"/>
                </a:solidFill>
                <a:latin typeface="Segoe UI"/>
              </a:rPr>
              <a:t>BUILT FOR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A2463"/>
                </a:solidFill>
                <a:latin typeface="Segoe UI"/>
              </a:rPr>
              <a:t>Mapped to the evaluation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41148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0972"/>
          </a:xfrm>
          <a:prstGeom prst="rect">
            <a:avLst/>
          </a:prstGeom>
          <a:solidFill>
            <a:srgbClr val="DDE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Loan Shark   ·   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BA3AF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64008" cy="156362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Innovation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414015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30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1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Decentralized P2P multi-agent choreography via Band HUMAN GATE replaces brittle central orchestrators.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19456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304288"/>
            <a:ext cx="64008" cy="156362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39572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Feasibility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34472" y="2414015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30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907791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Fast pipeline runs on Groq (~5s total). Complete dashboard and FastAPI backend are ready for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7880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88536"/>
            <a:ext cx="64008" cy="156362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9976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Scalability &amp;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39826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Stateless microservice architecture allows scaling agents. Band logs function as database-free audit trails.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178808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4288536"/>
            <a:ext cx="64008" cy="156362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379976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463"/>
                </a:solidFill>
                <a:latin typeface="Segoe UI"/>
              </a:rPr>
              <a:t>Presentation &amp; Documentation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34472" y="439826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20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89204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5A6B"/>
                </a:solidFill>
                <a:latin typeface="Segoe UI"/>
              </a:rPr>
              <a:t>This slide deck, extensive markdown guides, and a comprehensive 94-check validator script.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3840480"/>
            <a:ext cx="5943600" cy="5943600"/>
          </a:xfrm>
          <a:prstGeom prst="ellipse">
            <a:avLst/>
          </a:prstGeom>
          <a:solidFill>
            <a:srgbClr val="1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429000"/>
            <a:ext cx="2011680" cy="54864"/>
          </a:xfrm>
          <a:prstGeom prst="rect">
            <a:avLst/>
          </a:prstGeom>
          <a:solidFill>
            <a:srgbClr val="F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D166"/>
                </a:solidFill>
                <a:latin typeface="Segoe UI"/>
              </a:rPr>
              <a:t>Loan Shark — 9 agents. One decision. Zero shortcuts.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TrenCoders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5CEDF"/>
                </a:solidFill>
                <a:latin typeface="Segoe UI"/>
              </a:rPr>
              <a:t>Navnit   ·   Devansh   ·   Vishwajeet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A3AF"/>
                </a:solidFill>
                <a:latin typeface="Segoe UI"/>
              </a:rPr>
              <a:t>github.com/Ares19v/Loan_Shark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